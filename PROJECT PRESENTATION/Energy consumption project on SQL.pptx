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70" r:id="rId5"/>
    <p:sldId id="261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86" r:id="rId22"/>
    <p:sldId id="259" r:id="rId23"/>
  </p:sldIdLst>
  <p:sldSz cx="12192000" cy="6858000"/>
  <p:notesSz cx="6858000" cy="9144000"/>
  <p:embeddedFontLst>
    <p:embeddedFont>
      <p:font typeface="Lato Black" panose="020F0502020204030203" pitchFamily="34" charset="0"/>
      <p:bold r:id="rId25"/>
      <p:boldItalic r:id="rId26"/>
    </p:embeddedFont>
    <p:embeddedFont>
      <p:font typeface="Libre Baskerville" panose="02000000000000000000" pitchFamily="2" charset="0"/>
      <p:regular r:id="rId27"/>
      <p:bold r:id="rId28"/>
      <p: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0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 snapToGrid="0">
      <p:cViewPr varScale="1">
        <p:scale>
          <a:sx n="78" d="100"/>
          <a:sy n="78" d="100"/>
        </p:scale>
        <p:origin x="71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customschemas.google.com/relationships/presentationmetadata" Target="meta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98;p1">
            <a:extLst>
              <a:ext uri="{FF2B5EF4-FFF2-40B4-BE49-F238E27FC236}">
                <a16:creationId xmlns:a16="http://schemas.microsoft.com/office/drawing/2014/main" id="{F87F10CD-A53E-6A56-DC12-F7AD0B736C55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92" y="0"/>
            <a:ext cx="12190815" cy="6694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0"/>
            <a:ext cx="1219081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581761" y="3769319"/>
            <a:ext cx="7246189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lang="en-I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3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Energy Consumption Analysis</a:t>
            </a:r>
            <a:endParaRPr sz="32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506557" y="768230"/>
            <a:ext cx="11178886" cy="65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have completed my </a:t>
            </a:r>
            <a:r>
              <a:rPr lang="en-US" altLang="en-US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Bachelor’s of Technology in Computer Science and Engineering</a:t>
            </a: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with a specialization in </a:t>
            </a:r>
            <a:r>
              <a:rPr lang="en-US" altLang="en-US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Science</a:t>
            </a: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Being a fresher, I don’t have formal industry experience yet, but I have worked on multiple academic and internship projects focused on </a:t>
            </a:r>
            <a:r>
              <a:rPr lang="en-US" altLang="en-US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cleaning, preprocessing, analysis, and visualization</a:t>
            </a: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also completed my internship in </a:t>
            </a:r>
            <a:r>
              <a:rPr lang="en-US" altLang="en-US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Quality &amp; Data Analytics</a:t>
            </a: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where I gained hands-on experience with Python, SQL, Power BI, and real-world datasets.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am passionate about exploring data, building dashboards, and generating meaningful insights that support decision-making.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LinkedIn</a:t>
            </a: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https://www.linkedin.com/in/ganesh-gollapalli-928856275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GitHub</a:t>
            </a: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https://github.com/Ganesh8217/SQL-PROJECT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endParaRPr sz="24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27656" y="416554"/>
            <a:ext cx="60994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me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</a:rPr>
              <a:t>Agenda: 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84880" y="1493134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Objective of the Project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ER Diagram and schema explanation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Key analysis questions (use cases)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SQL query results with screenshots or summaries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Final business insights and recommendations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Conclusion (Key finding overall) 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Q&amp;A Slide 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Your Experience/Challenges working on SQL – Data Analysis Project.</a:t>
            </a:r>
            <a:endParaRPr sz="24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CBD82-416D-F13C-9AD1-80BAFC33C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/>
              <a:t>Objective of the Project:</a:t>
            </a:r>
            <a:endParaRPr lang="en-IN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848663-7B1F-E54C-8314-35C02CEDB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analyze the relationship between energy production and energy consumption.</a:t>
            </a:r>
          </a:p>
          <a:p>
            <a:r>
              <a:rPr lang="en-US" dirty="0"/>
              <a:t>To determine per capita energy consumption trends.</a:t>
            </a:r>
          </a:p>
          <a:p>
            <a:r>
              <a:rPr lang="en-US" dirty="0"/>
              <a:t>To compare economic growth (GDP) with emissions and consumption patterns.</a:t>
            </a:r>
          </a:p>
          <a:p>
            <a:r>
              <a:rPr lang="en-US" dirty="0"/>
              <a:t>To identify countries with unusual energy profiles (e.g., high production but low consumption or vice versa).</a:t>
            </a:r>
          </a:p>
          <a:p>
            <a:r>
              <a:rPr lang="en-US" dirty="0"/>
              <a:t>To use SQL queries for extracting, aggregating.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6927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478D0E-1271-28B5-FD9A-7D2985156201}"/>
              </a:ext>
            </a:extLst>
          </p:cNvPr>
          <p:cNvSpPr txBox="1"/>
          <p:nvPr/>
        </p:nvSpPr>
        <p:spPr>
          <a:xfrm>
            <a:off x="1615440" y="213360"/>
            <a:ext cx="7975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ER Diagram and schema explanation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490863CA-5595-0AE2-751F-340D782132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2320" y="1158240"/>
            <a:ext cx="7802880" cy="4846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6508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6590C-4384-CC30-FCC4-A1AAA4FD5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Key analysis questions :</a:t>
            </a:r>
            <a:endParaRPr lang="en-IN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E752EB-3394-88D6-7444-D488CF7E62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General &amp; Comparative Analysis</a:t>
            </a:r>
          </a:p>
          <a:p>
            <a:r>
              <a:rPr lang="en-IN" dirty="0"/>
              <a:t>Trend Analysis Over Time</a:t>
            </a:r>
          </a:p>
          <a:p>
            <a:r>
              <a:rPr lang="en-IN" dirty="0"/>
              <a:t>Ratio &amp; Per Capita Analysis</a:t>
            </a:r>
          </a:p>
          <a:p>
            <a:r>
              <a:rPr lang="en-IN" dirty="0"/>
              <a:t>Global Comparisons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2589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0313D72-7999-7B68-8B63-23C5D61B3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1" y="1112383"/>
            <a:ext cx="10591800" cy="15437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045C34B-3BEA-EA91-35DC-744E35E7FA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5457" y="3265714"/>
            <a:ext cx="4626428" cy="28411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91460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EC16D3B-4EC2-3DF0-D03E-04D48F8F6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3998" y="779009"/>
            <a:ext cx="7481888" cy="152876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207ABFB-2FD7-3416-9FB6-9D337EF247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8336" y="2939142"/>
            <a:ext cx="3373211" cy="198256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15220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E506A87-7692-2C63-4384-2060E9E7E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687" y="685120"/>
            <a:ext cx="7286625" cy="17430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F405046-F1E4-8337-F019-6F86D65825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5261" y="3352800"/>
            <a:ext cx="4181476" cy="282008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526209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F59A1D1-3164-A6BD-E963-BDE872591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0" y="688522"/>
            <a:ext cx="8648700" cy="14097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44623B8-8C8D-9D60-7A6E-664B2133B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3432" y="2544535"/>
            <a:ext cx="4065135" cy="362494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4929315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3817F4E-4FE0-9612-3F73-34BFDB8CD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271" y="656027"/>
            <a:ext cx="10243457" cy="147468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A2262BA-6C35-3C09-B263-A7BB6081E0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699" y="2707657"/>
            <a:ext cx="5562600" cy="311620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740248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37775C8-B80E-E04D-AC5F-CB5FE1AA20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7" y="544287"/>
            <a:ext cx="11249025" cy="12954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7DC181C-D0D6-CDC5-85A1-0068412F6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1303" y="2351312"/>
            <a:ext cx="5469392" cy="371202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6771910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EC3A288-7ECA-26A6-F34D-83D019A55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937" y="429305"/>
            <a:ext cx="8620125" cy="16668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A4BB05F-3DA8-0752-A39D-79EDA27627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7624" y="2488065"/>
            <a:ext cx="4476750" cy="373856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9017165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01DF5FA-D1F2-C1BA-63F5-0C11687228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913" y="732744"/>
            <a:ext cx="10080173" cy="101985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29DE551-F864-891D-E868-212CC54E52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3336" y="2231571"/>
            <a:ext cx="4505325" cy="401682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670400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A9445CC-08F8-06EE-633A-13BD10C19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91" y="874259"/>
            <a:ext cx="10168618" cy="8858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D49AA1-2227-0111-9194-953A524D79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310494"/>
            <a:ext cx="3505200" cy="41529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6956812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9551D20-8AED-4924-1398-3C4C16931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923" y="1180420"/>
            <a:ext cx="9786258" cy="9048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F606905-63F7-135B-767B-916EDD9A5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8062" y="2929619"/>
            <a:ext cx="5095875" cy="15430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1505072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05A6A-441A-7916-52D8-771FFAED1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Business insights:</a:t>
            </a:r>
            <a:endParaRPr lang="en-IN" sz="4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26616C-AED3-35F6-137D-6F3AD166D2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Countries with high GDP but low renewable production indicate potential for sustainable energy investments.</a:t>
            </a:r>
          </a:p>
          <a:p>
            <a:r>
              <a:rPr lang="en-US" sz="2400" dirty="0"/>
              <a:t>Per capita energy consumption strongly correlates with GDP, but emissions efficiency varies widely — some high consumers maintain lower emissions per capita.</a:t>
            </a:r>
          </a:p>
          <a:p>
            <a:r>
              <a:rPr lang="en-US" sz="2400" dirty="0"/>
              <a:t>Emerging economies show rising consumption rates, signaling future market demand for energy solutions.</a:t>
            </a:r>
          </a:p>
          <a:p>
            <a:r>
              <a:rPr lang="en-US" sz="2400" dirty="0"/>
              <a:t>Nations with stable or declining emissions despite GDP growth showcase effective environmental policies worth replicating.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560013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0C2FC-C38C-A3C4-BC61-4EB3608FF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Recommendations:</a:t>
            </a:r>
            <a:endParaRPr lang="en-IN" sz="40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FA939D-E6CC-7884-9A68-4D718392FC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Encourage policy adoption from low-emission high-GDP countries to improve efficiency.</a:t>
            </a:r>
          </a:p>
          <a:p>
            <a:r>
              <a:rPr lang="en-US" dirty="0"/>
              <a:t>Invest in renewable infrastructure in high consumption but low production regions.</a:t>
            </a:r>
          </a:p>
          <a:p>
            <a:r>
              <a:rPr lang="en-US" dirty="0"/>
              <a:t>Implement data-driven monitoring systems for early detection of unsustainable trends.</a:t>
            </a:r>
          </a:p>
          <a:p>
            <a:r>
              <a:rPr lang="en-US" dirty="0"/>
              <a:t>Promote international collaboration on clean energy tech to close the production-consumption gap.</a:t>
            </a:r>
          </a:p>
          <a:p>
            <a:r>
              <a:rPr lang="en-US" dirty="0"/>
              <a:t>Prioritize public awareness and energy efficiency programs in rapidly growing economies.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84575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6FF1A-FE81-EB83-9E1D-73ED21822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Experience Gained: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804F93-EFF1-0950-D0D5-7A47305485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Strengthened SQL skills by working with complex joins, subqueries, and aggregations.</a:t>
            </a:r>
          </a:p>
          <a:p>
            <a:r>
              <a:rPr lang="en-IN" dirty="0"/>
              <a:t>Learned to derive actionable insights from multi-table datasets.</a:t>
            </a:r>
          </a:p>
          <a:p>
            <a:r>
              <a:rPr lang="en-IN" dirty="0"/>
              <a:t>Improved data cleaning &amp; transformation skills to ensure query accuracy.</a:t>
            </a:r>
          </a:p>
          <a:p>
            <a:r>
              <a:rPr lang="en-IN" dirty="0"/>
              <a:t>Gained experience in real-world energy analytics and interpreting per capita emissions and GDP impact.</a:t>
            </a:r>
          </a:p>
        </p:txBody>
      </p:sp>
    </p:spTree>
    <p:extLst>
      <p:ext uri="{BB962C8B-B14F-4D97-AF65-F5344CB8AC3E}">
        <p14:creationId xmlns:p14="http://schemas.microsoft.com/office/powerpoint/2010/main" val="19851215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289D6-29B3-6303-C5EB-7C0C1431E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Challenges Faced:</a:t>
            </a:r>
            <a:endParaRPr lang="en-IN" sz="40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AA48A4-9168-B159-8315-5408BE09DD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Handling inconsistent data formats across multiple tables (e.g., missing or mismatched country names).</a:t>
            </a:r>
          </a:p>
          <a:p>
            <a:r>
              <a:rPr lang="en-US" dirty="0"/>
              <a:t>Balancing query performance while using multiple joins and aggregations.</a:t>
            </a:r>
          </a:p>
          <a:p>
            <a:r>
              <a:rPr lang="en-US" dirty="0"/>
              <a:t>Ensuring data completeness before making business recommendations.</a:t>
            </a:r>
          </a:p>
          <a:p>
            <a:r>
              <a:rPr lang="en-US" dirty="0"/>
              <a:t>Translating raw numbers into clear, meaningful insights for non-technical audiences.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85314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144FB-49F4-EF28-534E-2C4F115B7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Conclusion:</a:t>
            </a:r>
            <a:endParaRPr lang="en-IN" sz="40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8A4F4-138B-3B73-3D66-5EE5F4AE1C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SQL project highlights the power of relational databases in energy data analysis. By integrating production, consumption, GDP, population, and emissions data, we can uncover:</a:t>
            </a:r>
          </a:p>
          <a:p>
            <a:r>
              <a:rPr lang="en-US" dirty="0"/>
              <a:t>Regions leading in production and consumption.</a:t>
            </a:r>
          </a:p>
          <a:p>
            <a:r>
              <a:rPr lang="en-US" dirty="0"/>
              <a:t>Disparities in per capita energy access.</a:t>
            </a:r>
          </a:p>
          <a:p>
            <a:r>
              <a:rPr lang="en-US" dirty="0"/>
              <a:t>Economic implications of energy usage.</a:t>
            </a:r>
          </a:p>
          <a:p>
            <a:r>
              <a:rPr lang="en-US" dirty="0"/>
              <a:t>Environmental costs of energy generation.</a:t>
            </a:r>
          </a:p>
          <a:p>
            <a:r>
              <a:rPr lang="en-US" dirty="0"/>
              <a:t>Such insights can guide sustainable energy policies, investments in clean energy, and equitable distribution of resources.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93570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568</TotalTime>
  <Words>593</Words>
  <Application>Microsoft Office PowerPoint</Application>
  <PresentationFormat>Widescreen</PresentationFormat>
  <Paragraphs>58</Paragraphs>
  <Slides>22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Libre Baskerville</vt:lpstr>
      <vt:lpstr>Calibri</vt:lpstr>
      <vt:lpstr>Times New Roman</vt:lpstr>
      <vt:lpstr>Arial</vt:lpstr>
      <vt:lpstr>Lato Black</vt:lpstr>
      <vt:lpstr>Office Theme</vt:lpstr>
      <vt:lpstr>PowerPoint Presentation</vt:lpstr>
      <vt:lpstr>PowerPoint Presentation</vt:lpstr>
      <vt:lpstr>Agenda: </vt:lpstr>
      <vt:lpstr>Objective of the Project:</vt:lpstr>
      <vt:lpstr>PowerPoint Presentation</vt:lpstr>
      <vt:lpstr>Key analysis questions 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Business insights:</vt:lpstr>
      <vt:lpstr>Recommendations:</vt:lpstr>
      <vt:lpstr>Experience Gained:</vt:lpstr>
      <vt:lpstr>Challenges Faced:</vt:lpstr>
      <vt:lpstr>Conclusion: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Ganesh G</cp:lastModifiedBy>
  <cp:revision>7</cp:revision>
  <dcterms:created xsi:type="dcterms:W3CDTF">2021-02-16T05:19:01Z</dcterms:created>
  <dcterms:modified xsi:type="dcterms:W3CDTF">2026-03-04T10:47:35Z</dcterms:modified>
</cp:coreProperties>
</file>